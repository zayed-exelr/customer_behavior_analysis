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0" y="685800"/>
            <a:ext cx="1143000" cy="1143000"/>
          </a:xfrm>
          <a:prstGeom prst="roundRect">
            <a:avLst/>
          </a:prstGeom>
          <a:solidFill>
            <a:srgbClr val="F47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1371600" cy="137160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79" y="4297680"/>
            <a:ext cx="1920240" cy="731520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41280" y="5303520"/>
            <a:ext cx="1005840" cy="1005840"/>
          </a:xfrm>
          <a:prstGeom prst="roundRect">
            <a:avLst/>
          </a:prstGeom>
          <a:solidFill>
            <a:srgbClr val="E8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6675120" cy="1508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Customer Shopping</a:t>
            </a:r>
          </a:p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Behavior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6126480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DEDEF0"/>
                </a:solidFill>
                <a:latin typeface="Aptos"/>
              </a:rPr>
              <a:t>From raw customer records to actionable business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17720"/>
            <a:ext cx="1325880" cy="32004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649724"/>
            <a:ext cx="123443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617720"/>
            <a:ext cx="1234440" cy="32004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31720" y="4649724"/>
            <a:ext cx="1143000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617720"/>
            <a:ext cx="1417320" cy="320040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4649724"/>
            <a:ext cx="1325880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44768"/>
            <a:ext cx="50292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CDCFE8"/>
                </a:solidFill>
                <a:latin typeface="Aptos"/>
              </a:rPr>
              <a:t>PROJECT WALKTHROUGH  •  DATA → ANALYSIS →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274"/>
            <a:ext cx="12191695" cy="6858000"/>
          </a:xfrm>
          <a:prstGeom prst="rect">
            <a:avLst/>
          </a:prstGeom>
          <a:solidFill>
            <a:srgbClr val="F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DC37A3"/>
                </a:solidFill>
                <a:latin typeface="Aptos"/>
              </a:rP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Project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53378"/>
            <a:ext cx="731520" cy="54864"/>
          </a:xfrm>
          <a:prstGeom prst="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96B80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2732"/>
            <a:ext cx="548640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191C5C"/>
                </a:solidFill>
                <a:latin typeface="Aptos"/>
              </a:rPr>
              <a:t>What can shopping data tell us about customer behavior?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43881" cy="84843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 dirty="0">
                <a:solidFill>
                  <a:srgbClr val="696B80"/>
                </a:solidFill>
                <a:latin typeface="Aptos"/>
              </a:rPr>
              <a:t>This project explores spending patterns, product preferences, </a:t>
            </a:r>
            <a:endParaRPr lang="en-IN" sz="14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400" b="0" i="0" dirty="0">
                <a:solidFill>
                  <a:srgbClr val="696B80"/>
                </a:solidFill>
                <a:latin typeface="Aptos"/>
              </a:rPr>
              <a:t>review ratings, discount usage and subscription behavior using a</a:t>
            </a:r>
            <a:endParaRPr lang="en-IN" sz="14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400" b="0" i="0" dirty="0">
                <a:solidFill>
                  <a:srgbClr val="696B80"/>
                </a:solidFill>
                <a:latin typeface="Aptos"/>
              </a:rPr>
              <a:t> workflow across Python, MySQL and Power BI.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480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DC37A3"/>
                </a:solidFill>
                <a:latin typeface="Aptos"/>
              </a:rPr>
              <a:t>PROJECT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43400"/>
            <a:ext cx="91440" cy="438912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315968"/>
            <a:ext cx="43708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Compare customer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608576"/>
            <a:ext cx="43434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96B80"/>
                </a:solidFill>
                <a:latin typeface="Aptos"/>
              </a:rPr>
              <a:t>Gender, age group, subscription and shipping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74920"/>
            <a:ext cx="91440" cy="438912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5047488"/>
            <a:ext cx="43708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Support decisions with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340096"/>
            <a:ext cx="43434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96B80"/>
                </a:solidFill>
                <a:latin typeface="Aptos"/>
              </a:rPr>
              <a:t>Use SQL results and a dashboard to communicate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00200"/>
            <a:ext cx="2240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82296" cy="123444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1764792"/>
            <a:ext cx="191109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3,900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267712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records in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600200"/>
            <a:ext cx="2240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15400" y="1600200"/>
            <a:ext cx="82296" cy="123444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8" y="1764792"/>
            <a:ext cx="191109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2267712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source columns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63240"/>
            <a:ext cx="2240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0" y="3063240"/>
            <a:ext cx="82296" cy="1234440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3227832"/>
            <a:ext cx="191109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3730752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missing review ratings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3063240"/>
            <a:ext cx="2240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915400" y="3063240"/>
            <a:ext cx="82296" cy="1234440"/>
          </a:xfrm>
          <a:prstGeom prst="round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16568" y="3227832"/>
            <a:ext cx="191109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191C5C"/>
                </a:solidFill>
                <a:latin typeface="Aptos"/>
              </a:rPr>
              <a:t>3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3730752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end-to-end workflow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709160"/>
            <a:ext cx="4754880" cy="1005840"/>
          </a:xfrm>
          <a:prstGeom prst="roundRect">
            <a:avLst/>
          </a:prstGeom>
          <a:solidFill>
            <a:srgbClr val="E5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4919472"/>
            <a:ext cx="4387548" cy="70993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191C5C"/>
                </a:solidFill>
                <a:latin typeface="Aptos"/>
              </a:rPr>
              <a:t>Dataset: customer_shopping_behavior.csv</a:t>
            </a: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191C5C"/>
                </a:solidFill>
                <a:latin typeface="Aptos"/>
              </a:rPr>
              <a:t>Records are described as dataset rows; transaction-level interpretation</a:t>
            </a:r>
            <a:endParaRPr lang="en-IN" sz="1100" b="0" i="0" dirty="0">
              <a:solidFill>
                <a:srgbClr val="191C5C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191C5C"/>
                </a:solidFill>
                <a:latin typeface="Aptos"/>
              </a:rPr>
              <a:t> should be validated.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74"/>
            <a:ext cx="12191695" cy="6858000"/>
          </a:xfrm>
          <a:prstGeom prst="rect">
            <a:avLst/>
          </a:prstGeom>
          <a:solidFill>
            <a:srgbClr val="F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DC37A3"/>
                </a:solidFill>
                <a:latin typeface="Aptos"/>
              </a:rPr>
              <a:t>02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A repeatable analytics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25296"/>
            <a:ext cx="731520" cy="54864"/>
          </a:xfrm>
          <a:prstGeom prst="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96B8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423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9536" y="2057400"/>
            <a:ext cx="566928" cy="566928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176272"/>
            <a:ext cx="56692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16352"/>
            <a:ext cx="20116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1C5C"/>
                </a:solidFill>
                <a:latin typeface="Aptos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0400"/>
            <a:ext cx="20116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DC37A3"/>
                </a:solidFill>
                <a:latin typeface="Aptos"/>
              </a:rPr>
              <a:t>Python +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166" y="3657600"/>
            <a:ext cx="2165786" cy="70993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Inspect structure, review nulls and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duplicates, create analytical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880360"/>
            <a:ext cx="3200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DC37A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1828800"/>
            <a:ext cx="2423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12463" y="2057400"/>
            <a:ext cx="566928" cy="566928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12463" y="2176272"/>
            <a:ext cx="56692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2816352"/>
            <a:ext cx="20116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1C5C"/>
                </a:solidFill>
                <a:latin typeface="Aptos"/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3" y="3200400"/>
            <a:ext cx="20116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FB4A7"/>
                </a:solidFill>
                <a:latin typeface="Aptos"/>
              </a:rPr>
              <a:t>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1093" y="3657600"/>
            <a:ext cx="2096856" cy="70993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Load the cleaned </a:t>
            </a:r>
            <a:r>
              <a:rPr sz="1100" b="0" i="0" dirty="0" err="1">
                <a:solidFill>
                  <a:srgbClr val="696B80"/>
                </a:solidFill>
                <a:latin typeface="Aptos"/>
              </a:rPr>
              <a:t>DataFrame</a:t>
            </a:r>
            <a:r>
              <a:rPr sz="1100" b="0" i="0" dirty="0">
                <a:solidFill>
                  <a:srgbClr val="696B80"/>
                </a:solidFill>
                <a:latin typeface="Aptos"/>
              </a:rPr>
              <a:t> into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96B80"/>
                </a:solidFill>
                <a:latin typeface="Aptos"/>
              </a:rPr>
              <a:t>customer_behavior</a:t>
            </a:r>
            <a:r>
              <a:rPr sz="1100" b="0" i="0" dirty="0">
                <a:solidFill>
                  <a:srgbClr val="696B80"/>
                </a:solidFill>
                <a:latin typeface="Aptos"/>
              </a:rPr>
              <a:t> for SQL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880360"/>
            <a:ext cx="3200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DC37A3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1828800"/>
            <a:ext cx="2423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65392" y="2057400"/>
            <a:ext cx="566928" cy="566928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176272"/>
            <a:ext cx="56692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816352"/>
            <a:ext cx="20116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1C5C"/>
                </a:solidFill>
                <a:latin typeface="Aptos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200400"/>
            <a:ext cx="20116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BE5A"/>
                </a:solidFill>
                <a:latin typeface="Aptos"/>
              </a:rPr>
              <a:t>MySQL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4022" y="3657600"/>
            <a:ext cx="2204258" cy="70993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Answer 10 business questions with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aggregates, CASE, CTEs and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window functions.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880360"/>
            <a:ext cx="3200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DC37A3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7152" y="1828800"/>
            <a:ext cx="2423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18320" y="2057400"/>
            <a:ext cx="566928" cy="566928"/>
          </a:xfrm>
          <a:prstGeom prst="round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0" y="2176272"/>
            <a:ext cx="56692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16352"/>
            <a:ext cx="20116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1C5C"/>
                </a:solidFill>
                <a:latin typeface="Aptos"/>
              </a:rPr>
              <a:t>COMMUNICATE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200400"/>
            <a:ext cx="20116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B176D"/>
                </a:solidFill>
                <a:latin typeface="Aptos"/>
              </a:rPr>
              <a:t>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6950" y="3657600"/>
            <a:ext cx="2168992" cy="70993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Build KPI cards, category and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age-group charts, plus interactive 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slicers.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486400"/>
            <a:ext cx="10927080" cy="502920"/>
          </a:xfrm>
          <a:prstGeom prst="roundRect">
            <a:avLst/>
          </a:prstGeom>
          <a:solidFill>
            <a:srgbClr val="1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614416"/>
            <a:ext cx="1046988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Outcome: one connected workflow from data preparation to interactive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DC37A3"/>
                </a:solidFill>
                <a:latin typeface="Aptos"/>
              </a:rPr>
              <a:t>03 /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Preparing the data for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25296"/>
            <a:ext cx="731520" cy="54864"/>
          </a:xfrm>
          <a:prstGeom prst="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96B8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82296" cy="114300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195681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91C5C"/>
                </a:solidFill>
                <a:latin typeface="Aptos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19659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null Review Rating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718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82296" cy="114300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136392"/>
            <a:ext cx="195681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91C5C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639312"/>
            <a:ext cx="19659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duplicates reported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434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4343400"/>
            <a:ext cx="82296" cy="1143000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507992"/>
            <a:ext cx="195681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91C5C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010912"/>
            <a:ext cx="19659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engineered columns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600200"/>
            <a:ext cx="8138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11880" y="1929384"/>
            <a:ext cx="91440" cy="438912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13048" y="1901952"/>
            <a:ext cx="71140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Missing review 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2194560"/>
            <a:ext cx="70866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96B80"/>
                </a:solidFill>
                <a:latin typeface="Aptos"/>
              </a:rPr>
              <a:t>Filled with the median Review Rating within each product category.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2843784"/>
            <a:ext cx="91440" cy="438912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13048" y="2816352"/>
            <a:ext cx="71140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Age group 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3108960"/>
            <a:ext cx="70866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96B80"/>
                </a:solidFill>
                <a:latin typeface="Aptos"/>
              </a:rPr>
              <a:t>Created age_group using quartiles of the age distribution; groups are dataset-relative.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3758184"/>
            <a:ext cx="91440" cy="438912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3048" y="3730752"/>
            <a:ext cx="71140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Purchase-frequency 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048" y="4023360"/>
            <a:ext cx="70866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96B80"/>
                </a:solidFill>
                <a:latin typeface="Aptos"/>
              </a:rPr>
              <a:t>Mapped labels to approximate day intervals (e.g., Weekly = 7, Bi-Weekly = 14, Monthly = 30).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672584"/>
            <a:ext cx="91440" cy="438912"/>
          </a:xfrm>
          <a:prstGeom prst="round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13048" y="4645152"/>
            <a:ext cx="71140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Column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4937760"/>
            <a:ext cx="7439665" cy="47654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Removed </a:t>
            </a:r>
            <a:r>
              <a:rPr sz="1100" b="0" i="0" dirty="0" err="1">
                <a:solidFill>
                  <a:srgbClr val="696B80"/>
                </a:solidFill>
                <a:latin typeface="Aptos"/>
              </a:rPr>
              <a:t>promo_code_used</a:t>
            </a:r>
            <a:r>
              <a:rPr sz="1100" b="0" i="0" dirty="0">
                <a:solidFill>
                  <a:srgbClr val="696B80"/>
                </a:solidFill>
                <a:latin typeface="Aptos"/>
              </a:rPr>
              <a:t> from the working </a:t>
            </a:r>
            <a:r>
              <a:rPr sz="1100" b="0" i="0" dirty="0" err="1">
                <a:solidFill>
                  <a:srgbClr val="696B80"/>
                </a:solidFill>
                <a:latin typeface="Aptos"/>
              </a:rPr>
              <a:t>DataFrame</a:t>
            </a:r>
            <a:r>
              <a:rPr sz="1100" b="0" i="0" dirty="0">
                <a:solidFill>
                  <a:srgbClr val="696B80"/>
                </a:solidFill>
                <a:latin typeface="Aptos"/>
              </a:rPr>
              <a:t>; this can limit promotion-specific analysis because it may differ</a:t>
            </a:r>
            <a:endParaRPr lang="en-IN" sz="110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696B80"/>
                </a:solidFill>
                <a:latin typeface="Aptos"/>
              </a:rPr>
              <a:t> from </a:t>
            </a:r>
            <a:r>
              <a:rPr sz="1100" b="0" i="0" dirty="0" err="1">
                <a:solidFill>
                  <a:srgbClr val="696B80"/>
                </a:solidFill>
                <a:latin typeface="Aptos"/>
              </a:rPr>
              <a:t>discount_applied</a:t>
            </a:r>
            <a:r>
              <a:rPr sz="1100" b="0" i="0" dirty="0">
                <a:solidFill>
                  <a:srgbClr val="696B8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DC37A3"/>
                </a:solidFill>
                <a:latin typeface="Aptos"/>
              </a:rPr>
              <a:t>04 / 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SQL turned questions into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25296"/>
            <a:ext cx="731520" cy="54864"/>
          </a:xfrm>
          <a:prstGeom prst="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96B8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36192"/>
            <a:ext cx="1508760" cy="32004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568195"/>
            <a:ext cx="141731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AGGREGATIONS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536192"/>
            <a:ext cx="1325880" cy="32004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39" y="1568195"/>
            <a:ext cx="123443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SUBQUERIES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1" y="1536192"/>
            <a:ext cx="1051560" cy="320040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67911" y="1568195"/>
            <a:ext cx="96011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CASE WHEN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2" y="1536192"/>
            <a:ext cx="822960" cy="320040"/>
          </a:xfrm>
          <a:prstGeom prst="round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56632" y="1568195"/>
            <a:ext cx="731520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536192"/>
            <a:ext cx="1737360" cy="320040"/>
          </a:xfrm>
          <a:prstGeom prst="roundRect">
            <a:avLst/>
          </a:prstGeom>
          <a:solidFill>
            <a:srgbClr val="1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1568195"/>
            <a:ext cx="1645919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WINDOW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148840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5528" y="2249424"/>
            <a:ext cx="384048" cy="36576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2304288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2295144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Revenue by gender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48840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27648" y="2249424"/>
            <a:ext cx="384048" cy="36576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04288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295144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Discounted purchases ≥ average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898648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5528" y="2999232"/>
            <a:ext cx="384048" cy="36576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054096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3044952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Top 5 products by rating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898648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27648" y="2999232"/>
            <a:ext cx="384048" cy="36576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3054096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3044952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Standard vs Express spend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648456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5528" y="3749040"/>
            <a:ext cx="384048" cy="36576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8" y="3803904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7592" y="3794760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Subscribers vs non-subscribers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648456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327648" y="3749040"/>
            <a:ext cx="384048" cy="36576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7648" y="3803904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794760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Products with highest discount rate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398264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95528" y="4498848"/>
            <a:ext cx="384048" cy="36576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8" y="455371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07592" y="4544568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New / Returning / Loyal segments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398264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327648" y="4498848"/>
            <a:ext cx="384048" cy="36576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27648" y="455371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4544568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Top 3 products in each category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148072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95528" y="5248656"/>
            <a:ext cx="384048" cy="36576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5528" y="5303520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07592" y="5294376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Repeat buyers and subscription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5148072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327648" y="5248656"/>
            <a:ext cx="384048" cy="36576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27648" y="5303520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9712" y="5294376"/>
            <a:ext cx="4343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91C5C"/>
                </a:solidFill>
                <a:latin typeface="Aptos"/>
              </a:rPr>
              <a:t>Revenue by age group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96B80"/>
                </a:solidFill>
                <a:latin typeface="Aptos"/>
              </a:rPr>
              <a:t>Queries were written and executed in MySQL Workbench against customer_shopping_behavior.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DC37A3"/>
                </a:solidFill>
                <a:latin typeface="Aptos"/>
              </a:rPr>
              <a:t>05 /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What the results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25296"/>
            <a:ext cx="731520" cy="54864"/>
          </a:xfrm>
          <a:prstGeom prst="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96B8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82296" cy="1143000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673351"/>
            <a:ext cx="218541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91C5C"/>
                </a:solidFill>
                <a:latin typeface="Aptos"/>
              </a:rPr>
              <a:t>233K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76272"/>
            <a:ext cx="21945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total purchase amount shown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0876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83280" y="1508760"/>
            <a:ext cx="82296" cy="1143000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4448" y="1673351"/>
            <a:ext cx="218541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191C5C"/>
                </a:solidFill>
                <a:latin typeface="Aptos"/>
              </a:rPr>
              <a:t>$59.76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176272"/>
            <a:ext cx="21945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average purchase amount shown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50876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08192" y="1508760"/>
            <a:ext cx="82296" cy="1143000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1673351"/>
            <a:ext cx="218541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91C5C"/>
                </a:solidFill>
                <a:latin typeface="Aptos"/>
              </a:rPr>
              <a:t>3.75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76272"/>
            <a:ext cx="21945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average review rating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3104" y="150876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33104" y="1508760"/>
            <a:ext cx="82296" cy="1143000"/>
          </a:xfrm>
          <a:prstGeom prst="round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34272" y="1673351"/>
            <a:ext cx="2185416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191C5C"/>
                </a:solidFill>
                <a:latin typeface="Aptos"/>
              </a:rPr>
              <a:t>27%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176272"/>
            <a:ext cx="21945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696B80"/>
                </a:solidFill>
                <a:latin typeface="Aptos"/>
              </a:rPr>
              <a:t>subscription = Yes (shown)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926080"/>
            <a:ext cx="65836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127248"/>
            <a:ext cx="585216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DC37A3"/>
                </a:solidFill>
                <a:latin typeface="Aptos"/>
              </a:rPr>
              <a:t>PURCHASE AMOUNT BY CATEGORY (APPROX.)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39312"/>
            <a:ext cx="118872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Clothing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3639312"/>
            <a:ext cx="3977639" cy="219456"/>
          </a:xfrm>
          <a:prstGeom prst="roundRect">
            <a:avLst/>
          </a:prstGeom>
          <a:solidFill>
            <a:srgbClr val="EC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148840" y="3639312"/>
            <a:ext cx="3760677" cy="219456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630168"/>
            <a:ext cx="685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104K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23944"/>
            <a:ext cx="118872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Accessories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840" y="4123944"/>
            <a:ext cx="3977639" cy="219456"/>
          </a:xfrm>
          <a:prstGeom prst="roundRect">
            <a:avLst/>
          </a:prstGeom>
          <a:solidFill>
            <a:srgbClr val="EC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148840" y="4123944"/>
            <a:ext cx="2675866" cy="219456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4114800"/>
            <a:ext cx="685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74K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08576"/>
            <a:ext cx="118872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Footwear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48840" y="4608576"/>
            <a:ext cx="3977639" cy="219456"/>
          </a:xfrm>
          <a:prstGeom prst="roundRect">
            <a:avLst/>
          </a:prstGeom>
          <a:solidFill>
            <a:srgbClr val="EC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148840" y="4608576"/>
            <a:ext cx="1301773" cy="219456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4599432"/>
            <a:ext cx="685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36K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93208"/>
            <a:ext cx="118872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Outerwear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48840" y="5093208"/>
            <a:ext cx="3977639" cy="219456"/>
          </a:xfrm>
          <a:prstGeom prst="roundRect">
            <a:avLst/>
          </a:prstGeom>
          <a:solidFill>
            <a:srgbClr val="EC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148840" y="5093208"/>
            <a:ext cx="687046" cy="219456"/>
          </a:xfrm>
          <a:prstGeom prst="round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5084064"/>
            <a:ext cx="685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191C5C"/>
                </a:solidFill>
                <a:latin typeface="Aptos"/>
              </a:rPr>
              <a:t>19K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2926080"/>
            <a:ext cx="3611880" cy="2926080"/>
          </a:xfrm>
          <a:prstGeom prst="roundRect">
            <a:avLst/>
          </a:prstGeom>
          <a:solidFill>
            <a:srgbClr val="1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3218688"/>
            <a:ext cx="29260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477C3"/>
                </a:solidFill>
                <a:latin typeface="Aptos"/>
              </a:rPr>
              <a:t>SUBSCRIPTION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657600"/>
            <a:ext cx="29260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$59.49 vs $59.87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133087"/>
            <a:ext cx="3174074" cy="47654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DEDEF0"/>
                </a:solidFill>
                <a:latin typeface="Aptos"/>
              </a:rPr>
              <a:t>Average spend is slightly lower for subscribers than</a:t>
            </a:r>
            <a:endParaRPr lang="en-IN" sz="1100" b="0" i="0" dirty="0">
              <a:solidFill>
                <a:srgbClr val="DEDEF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00" b="0" i="0" dirty="0">
                <a:solidFill>
                  <a:srgbClr val="DEDEF0"/>
                </a:solidFill>
                <a:latin typeface="Aptos"/>
              </a:rPr>
              <a:t> non-subscribers in the query results.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138928"/>
            <a:ext cx="292608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BE5A"/>
                </a:solidFill>
                <a:latin typeface="Aptos"/>
              </a:rPr>
              <a:t>Association ≠ causation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477C3"/>
                </a:solidFill>
                <a:latin typeface="Aptos"/>
              </a:rPr>
              <a:t>06 /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One view. Multiple ways to explore.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DCDCF0"/>
                </a:solidFill>
                <a:latin typeface="Aptos"/>
              </a:rPr>
              <a:t>KPIs, category comparisons, age groups and interactive slicers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4215" y="1664207"/>
            <a:ext cx="8843263" cy="5038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10-23 161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17" y="1664207"/>
            <a:ext cx="8900161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DC37A3"/>
                </a:solidFill>
                <a:latin typeface="Aptos"/>
              </a:rPr>
              <a:t>07 /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1C5C"/>
                </a:solidFill>
                <a:latin typeface="Aptos"/>
              </a:rPr>
              <a:t>From analysis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25296"/>
            <a:ext cx="731520" cy="54864"/>
          </a:xfrm>
          <a:prstGeom prst="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96B80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856232"/>
            <a:ext cx="530352" cy="530352"/>
          </a:xfrm>
          <a:prstGeom prst="roundRect">
            <a:avLst/>
          </a:prstGeom>
          <a:solidFill>
            <a:srgbClr val="DC3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53035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56232"/>
            <a:ext cx="3931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Explore subscription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67712"/>
            <a:ext cx="4230453" cy="4611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 dirty="0">
                <a:solidFill>
                  <a:srgbClr val="696B80"/>
                </a:solidFill>
                <a:latin typeface="Aptos"/>
              </a:rPr>
              <a:t>Test subscriber benefits and measure conversion; current data does not</a:t>
            </a:r>
            <a:endParaRPr lang="en-IN" sz="105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050" b="0" i="0" dirty="0">
                <a:solidFill>
                  <a:srgbClr val="696B80"/>
                </a:solidFill>
                <a:latin typeface="Aptos"/>
              </a:rPr>
              <a:t> prove subscription causes higher spend.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6520" y="1856232"/>
            <a:ext cx="530352" cy="530352"/>
          </a:xfrm>
          <a:prstGeom prst="roundRect">
            <a:avLst/>
          </a:prstGeom>
          <a:solidFill>
            <a:srgbClr val="2F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02536"/>
            <a:ext cx="53035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56232"/>
            <a:ext cx="3931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Build customer loyalty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67712"/>
            <a:ext cx="3977639" cy="6217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696B80"/>
                </a:solidFill>
                <a:latin typeface="Aptos"/>
              </a:rPr>
              <a:t>Use purchase-history segments to test rewards for returning customers.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776472"/>
            <a:ext cx="530352" cy="530352"/>
          </a:xfrm>
          <a:prstGeom prst="round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22776"/>
            <a:ext cx="53035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76472"/>
            <a:ext cx="3931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Review discount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87952"/>
            <a:ext cx="4086183" cy="4611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 dirty="0">
                <a:solidFill>
                  <a:srgbClr val="696B80"/>
                </a:solidFill>
                <a:latin typeface="Aptos"/>
              </a:rPr>
              <a:t>Compare discount rates with revenue and, if available, profit margins </a:t>
            </a:r>
            <a:endParaRPr lang="en-IN" sz="105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050" b="0" i="0" dirty="0">
                <a:solidFill>
                  <a:srgbClr val="696B80"/>
                </a:solidFill>
                <a:latin typeface="Aptos"/>
              </a:rPr>
              <a:t>before changing promotions.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66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46520" y="3776472"/>
            <a:ext cx="530352" cy="530352"/>
          </a:xfrm>
          <a:prstGeom prst="roundRect">
            <a:avLst/>
          </a:prstGeom>
          <a:solidFill>
            <a:srgbClr val="5B1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922776"/>
            <a:ext cx="53035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776472"/>
            <a:ext cx="3931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91C5C"/>
                </a:solidFill>
                <a:latin typeface="Aptos"/>
              </a:rPr>
              <a:t>Merchandise with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187952"/>
            <a:ext cx="4047711" cy="4611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 dirty="0">
                <a:solidFill>
                  <a:srgbClr val="696B80"/>
                </a:solidFill>
                <a:latin typeface="Aptos"/>
              </a:rPr>
              <a:t>Feature high-rated and popular products, while monitoring results by</a:t>
            </a:r>
            <a:endParaRPr lang="en-IN" sz="1050" b="0" i="0" dirty="0">
              <a:solidFill>
                <a:srgbClr val="696B80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050" b="0" i="0" dirty="0">
                <a:solidFill>
                  <a:srgbClr val="696B80"/>
                </a:solidFill>
                <a:latin typeface="Aptos"/>
              </a:rPr>
              <a:t> category.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715000"/>
            <a:ext cx="10789920" cy="548640"/>
          </a:xfrm>
          <a:prstGeom prst="roundRect">
            <a:avLst/>
          </a:prstGeom>
          <a:solidFill>
            <a:srgbClr val="1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53303" y="5852160"/>
            <a:ext cx="1054904" cy="2739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 dirty="0">
                <a:solidFill>
                  <a:srgbClr val="FFFFFF"/>
                </a:solidFill>
                <a:latin typeface="Aptos"/>
              </a:rPr>
              <a:t>Thank you  •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604</Words>
  <Application>Microsoft Office PowerPoint</Application>
  <PresentationFormat>Widescreen</PresentationFormat>
  <Paragraphs>155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Data analytics portfolio project presentation</dc:subject>
  <dc:creator>OpenAI</dc:creator>
  <cp:keywords>Python, MySQL, Power BI, customer behavior, data analytics</cp:keywords>
  <dc:description>generated using python-pptx</dc:description>
  <cp:lastModifiedBy>Aziz Sheikh</cp:lastModifiedBy>
  <cp:revision>2</cp:revision>
  <dcterms:created xsi:type="dcterms:W3CDTF">2013-01-27T09:14:16Z</dcterms:created>
  <dcterms:modified xsi:type="dcterms:W3CDTF">2026-10-26T07:20:59Z</dcterms:modified>
  <cp:category/>
</cp:coreProperties>
</file>